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ato" charset="1" panose="020F0502020204030203"/>
      <p:regular r:id="rId22"/>
    </p:embeddedFont>
    <p:embeddedFont>
      <p:font typeface="Helios Extended Bold" charset="1" panose="02000805050000020004"/>
      <p:regular r:id="rId23"/>
    </p:embeddedFont>
    <p:embeddedFont>
      <p:font typeface="Glacial Indifference" charset="1" panose="00000000000000000000"/>
      <p:regular r:id="rId24"/>
    </p:embeddedFont>
    <p:embeddedFont>
      <p:font typeface="Heebo Bold" charset="1" panose="00000800000000000000"/>
      <p:regular r:id="rId25"/>
    </p:embeddedFont>
    <p:embeddedFont>
      <p:font typeface="Lato Bold" charset="1" panose="020F0502020204030203"/>
      <p:regular r:id="rId26"/>
    </p:embeddedFont>
    <p:embeddedFont>
      <p:font typeface="Helios Extended" charset="1" panose="0200050504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3342">
            <a:off x="12347359" y="-171664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51194" y="2234314"/>
            <a:ext cx="6236806" cy="8052686"/>
          </a:xfrm>
          <a:custGeom>
            <a:avLst/>
            <a:gdLst/>
            <a:ahLst/>
            <a:cxnLst/>
            <a:rect r="r" b="b" t="t" l="l"/>
            <a:pathLst>
              <a:path h="8052686" w="623680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869468" y="6684082"/>
            <a:ext cx="6768871" cy="1411380"/>
            <a:chOff x="0" y="0"/>
            <a:chExt cx="1782748" cy="371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748" cy="371721"/>
            </a:xfrm>
            <a:custGeom>
              <a:avLst/>
              <a:gdLst/>
              <a:ahLst/>
              <a:cxnLst/>
              <a:rect r="r" b="b" t="t" l="l"/>
              <a:pathLst>
                <a:path h="371721" w="1782748">
                  <a:moveTo>
                    <a:pt x="22875" y="0"/>
                  </a:moveTo>
                  <a:lnTo>
                    <a:pt x="1759873" y="0"/>
                  </a:lnTo>
                  <a:cubicBezTo>
                    <a:pt x="1765940" y="0"/>
                    <a:pt x="1771758" y="2410"/>
                    <a:pt x="1776048" y="6700"/>
                  </a:cubicBezTo>
                  <a:cubicBezTo>
                    <a:pt x="1780338" y="10990"/>
                    <a:pt x="1782748" y="16808"/>
                    <a:pt x="1782748" y="22875"/>
                  </a:cubicBezTo>
                  <a:lnTo>
                    <a:pt x="1782748" y="348846"/>
                  </a:lnTo>
                  <a:cubicBezTo>
                    <a:pt x="1782748" y="354913"/>
                    <a:pt x="1780338" y="360732"/>
                    <a:pt x="1776048" y="365021"/>
                  </a:cubicBezTo>
                  <a:cubicBezTo>
                    <a:pt x="1771758" y="369311"/>
                    <a:pt x="1765940" y="371721"/>
                    <a:pt x="1759873" y="371721"/>
                  </a:cubicBezTo>
                  <a:lnTo>
                    <a:pt x="22875" y="371721"/>
                  </a:lnTo>
                  <a:cubicBezTo>
                    <a:pt x="16808" y="371721"/>
                    <a:pt x="10990" y="369311"/>
                    <a:pt x="6700" y="365021"/>
                  </a:cubicBezTo>
                  <a:cubicBezTo>
                    <a:pt x="2410" y="360732"/>
                    <a:pt x="0" y="354913"/>
                    <a:pt x="0" y="348846"/>
                  </a:cubicBezTo>
                  <a:lnTo>
                    <a:pt x="0" y="22875"/>
                  </a:lnTo>
                  <a:cubicBezTo>
                    <a:pt x="0" y="16808"/>
                    <a:pt x="2410" y="10990"/>
                    <a:pt x="6700" y="6700"/>
                  </a:cubicBezTo>
                  <a:cubicBezTo>
                    <a:pt x="10990" y="2410"/>
                    <a:pt x="16808" y="0"/>
                    <a:pt x="22875" y="0"/>
                  </a:cubicBezTo>
                  <a:close/>
                </a:path>
              </a:pathLst>
            </a:custGeom>
            <a:solidFill>
              <a:srgbClr val="E971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82748" cy="438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spc="3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Akula Manasa Reddy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spc="3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Veligatla Pardhu Sai Harsha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22450" y="3583042"/>
            <a:ext cx="13347147" cy="201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3"/>
              </a:lnSpc>
            </a:pPr>
            <a:r>
              <a:rPr lang="en-US" b="true" sz="3752" spc="187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SIGNAL CONDITIONING AND FREQUENCY COMPONENT EXTRACTION USING ACTIVE FILTERS AND FFT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2559210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5406" y="1663290"/>
            <a:ext cx="11152096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89109" y="3229771"/>
            <a:ext cx="13162412" cy="397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8759" indent="-359380" lvl="1">
              <a:lnSpc>
                <a:spcPts val="5326"/>
              </a:lnSpc>
              <a:buFont typeface="Arial"/>
              <a:buChar char="•"/>
            </a:pPr>
            <a:r>
              <a:rPr lang="en-US" sz="3329" spc="3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</a:t>
            </a:r>
            <a:r>
              <a:rPr lang="en-US" sz="3329" spc="3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input signal is obtained from a black box system.</a:t>
            </a:r>
          </a:p>
          <a:p>
            <a:pPr algn="just" marL="718759" indent="-359380" lvl="1">
              <a:lnSpc>
                <a:spcPts val="5326"/>
              </a:lnSpc>
              <a:buFont typeface="Arial"/>
              <a:buChar char="•"/>
            </a:pPr>
            <a:r>
              <a:rPr lang="en-US" sz="3329" spc="3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signal contains multiple frequency components and noise.</a:t>
            </a:r>
          </a:p>
          <a:p>
            <a:pPr algn="just" marL="718759" indent="-359380" lvl="1">
              <a:lnSpc>
                <a:spcPts val="5326"/>
              </a:lnSpc>
              <a:buFont typeface="Arial"/>
              <a:buChar char="•"/>
            </a:pPr>
            <a:r>
              <a:rPr lang="en-US" sz="3329" spc="3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objective is to extract a clean 6 kHz signal.</a:t>
            </a:r>
          </a:p>
          <a:p>
            <a:pPr algn="just" marL="718759" indent="-359380" lvl="1">
              <a:lnSpc>
                <a:spcPts val="5326"/>
              </a:lnSpc>
              <a:buFont typeface="Arial"/>
              <a:buChar char="•"/>
            </a:pPr>
            <a:r>
              <a:rPr lang="en-US" sz="3329" spc="3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requires signal conditioning and filtering.</a:t>
            </a:r>
          </a:p>
          <a:p>
            <a:pPr algn="just" marL="0" indent="0" lvl="0">
              <a:lnSpc>
                <a:spcPts val="532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76575">
            <a:off x="-832584" y="-356285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1826" y="1181100"/>
            <a:ext cx="14523548" cy="107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AGENDA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1826" y="2463248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96493" y="2463248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1826" y="4104834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96493" y="4104834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91826" y="5749248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6493" y="5749248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1826" y="3375877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1382" y="3375877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CIRCUIT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1826" y="5084403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PROPOSED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6493" y="5084403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SIMULATION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1826" y="6728552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SYSTEM BLOCK DIAGRAM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1382" y="6728552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FFT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91826" y="7393662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1329" y="8372966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HPF, BPF, LPF STAGES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51382" y="8372966"/>
            <a:ext cx="47754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BONUS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6493" y="7393662"/>
            <a:ext cx="4269076" cy="96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9"/>
              </a:lnSpc>
            </a:pPr>
            <a:r>
              <a:rPr lang="en-US" b="true" sz="5363" spc="268">
                <a:solidFill>
                  <a:srgbClr val="AD533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08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10505412">
            <a:off x="11698623" y="-3293298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6" y="0"/>
                </a:moveTo>
                <a:lnTo>
                  <a:pt x="0" y="0"/>
                </a:lnTo>
                <a:lnTo>
                  <a:pt x="0" y="9699130"/>
                </a:lnTo>
                <a:lnTo>
                  <a:pt x="7511976" y="9699130"/>
                </a:lnTo>
                <a:lnTo>
                  <a:pt x="7511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19994">
            <a:off x="9681474" y="2406767"/>
            <a:ext cx="8754851" cy="11303875"/>
          </a:xfrm>
          <a:custGeom>
            <a:avLst/>
            <a:gdLst/>
            <a:ahLst/>
            <a:cxnLst/>
            <a:rect r="r" b="b" t="t" l="l"/>
            <a:pathLst>
              <a:path h="11303875" w="8754851">
                <a:moveTo>
                  <a:pt x="0" y="0"/>
                </a:moveTo>
                <a:lnTo>
                  <a:pt x="8754852" y="0"/>
                </a:lnTo>
                <a:lnTo>
                  <a:pt x="8754852" y="11303875"/>
                </a:lnTo>
                <a:lnTo>
                  <a:pt x="0" y="1130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76575">
            <a:off x="-832584" y="-356285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505412">
            <a:off x="11698623" y="-3293298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6" y="0"/>
                </a:moveTo>
                <a:lnTo>
                  <a:pt x="0" y="0"/>
                </a:lnTo>
                <a:lnTo>
                  <a:pt x="0" y="9699130"/>
                </a:lnTo>
                <a:lnTo>
                  <a:pt x="7511976" y="9699130"/>
                </a:lnTo>
                <a:lnTo>
                  <a:pt x="7511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19994">
            <a:off x="-385117" y="2619864"/>
            <a:ext cx="8754851" cy="11303875"/>
          </a:xfrm>
          <a:custGeom>
            <a:avLst/>
            <a:gdLst/>
            <a:ahLst/>
            <a:cxnLst/>
            <a:rect r="r" b="b" t="t" l="l"/>
            <a:pathLst>
              <a:path h="11303875" w="8754851">
                <a:moveTo>
                  <a:pt x="8754851" y="0"/>
                </a:moveTo>
                <a:lnTo>
                  <a:pt x="0" y="0"/>
                </a:lnTo>
                <a:lnTo>
                  <a:pt x="0" y="11303875"/>
                </a:lnTo>
                <a:lnTo>
                  <a:pt x="8754851" y="11303875"/>
                </a:lnTo>
                <a:lnTo>
                  <a:pt x="87548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57394" y="1985245"/>
            <a:ext cx="11813829" cy="94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019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404" y="3453653"/>
            <a:ext cx="13387387" cy="32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233"/>
              </a:lnSpc>
            </a:pPr>
            <a:r>
              <a:rPr lang="en-US" sz="30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</a:t>
            </a:r>
            <a:r>
              <a:rPr lang="en-US" sz="30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 design and implement a multi-stage active signal conditioning system using High-Pass, Band-Pass, and Low-Pass filters to extract the desired 6 kHz frequency component from a composite signal obtained from a black-box system, while suppressing low-frequency drift, high-frequency interference, and unwanted noise, and to verify the extracted signal using FFT analysis.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376575">
            <a:off x="-699234" y="-3190905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299632"/>
            <a:ext cx="15529061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1942" y="2550795"/>
            <a:ext cx="15193113" cy="670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proposed system uses a combination of Sallen-Key active filters and passive signal conditioning circuits to progressively remove unwanted frequency components.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A High Pass Filter (HPF) with cutoff frequency 2 kHz removes DC offset and low-frequency drift.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Two Band Pass Filters (BPF) centered around 6 kHz provide selective amplification of the desired frequency band and suppress out-of-band noise.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Two Low Pass Filters (LPF) with cutoff frequencies 10 kHz and 8 kHz reduce high-frequency interference and harmonics.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An RC smoothing circuit is used to remove residual ripple and spikes in the signal.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A voltage divider is implemented to scale the output amplitude to a suitable level.</a:t>
            </a:r>
          </a:p>
          <a:p>
            <a:pPr algn="l" marL="0" indent="0" lvl="0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Finally, FFT analysis is performed to verify that the dominant frequency component around 6 kHz is successfully extracted.</a:t>
            </a:r>
          </a:p>
          <a:p>
            <a:pPr algn="l" marL="0" indent="0" lvl="0">
              <a:lnSpc>
                <a:spcPts val="351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-10800000">
            <a:off x="15632181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2655819" y="0"/>
                </a:moveTo>
                <a:lnTo>
                  <a:pt x="0" y="0"/>
                </a:lnTo>
                <a:lnTo>
                  <a:pt x="0" y="4132861"/>
                </a:lnTo>
                <a:lnTo>
                  <a:pt x="2655819" y="4132861"/>
                </a:lnTo>
                <a:lnTo>
                  <a:pt x="26558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3342">
            <a:off x="12347359" y="-171664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51194" y="2234314"/>
            <a:ext cx="6236806" cy="8052686"/>
          </a:xfrm>
          <a:custGeom>
            <a:avLst/>
            <a:gdLst/>
            <a:ahLst/>
            <a:cxnLst/>
            <a:rect r="r" b="b" t="t" l="l"/>
            <a:pathLst>
              <a:path h="8052686" w="623680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5080" y="1886140"/>
            <a:ext cx="4333326" cy="7588653"/>
          </a:xfrm>
          <a:custGeom>
            <a:avLst/>
            <a:gdLst/>
            <a:ahLst/>
            <a:cxnLst/>
            <a:rect r="r" b="b" t="t" l="l"/>
            <a:pathLst>
              <a:path h="7588653" w="4333326">
                <a:moveTo>
                  <a:pt x="0" y="0"/>
                </a:moveTo>
                <a:lnTo>
                  <a:pt x="4333326" y="0"/>
                </a:lnTo>
                <a:lnTo>
                  <a:pt x="4333326" y="7588653"/>
                </a:lnTo>
                <a:lnTo>
                  <a:pt x="0" y="7588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3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1818" y="681608"/>
            <a:ext cx="11644470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BLOCK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296171" y="2682655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6777" y="714498"/>
            <a:ext cx="12038434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HPF, BPF, LPF STAGES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97446" y="2043430"/>
            <a:ext cx="12347046" cy="721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spc="26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High Pass Filter (HPF)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Cutoff Frequency: 2 kHz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• Removes DC offset and low-frequency drift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• Allows frequencies greater than 2 kHz to pass.</a:t>
            </a:r>
          </a:p>
          <a:p>
            <a:pPr algn="l">
              <a:lnSpc>
                <a:spcPts val="4160"/>
              </a:lnSpc>
            </a:pPr>
            <a:r>
              <a:rPr lang="en-US" sz="2600" spc="26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Band Pass Filter (BPF)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Center Frequency: ≈ 6 kHz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• Used to select the desired frequency band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• Two BPF stages are used to improve frequency selectivity and noise rejection.</a:t>
            </a:r>
          </a:p>
          <a:p>
            <a:pPr algn="l">
              <a:lnSpc>
                <a:spcPts val="4160"/>
              </a:lnSpc>
            </a:pPr>
            <a:r>
              <a:rPr lang="en-US" sz="2600" spc="26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Low Pass Filter (LPF)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Cutoff Frequencies: 10 kHz and 8 kHz</a:t>
            </a:r>
          </a:p>
          <a:p>
            <a:pPr algn="l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Suppresses high-frequency interference and unwanted harmonics</a:t>
            </a:r>
          </a:p>
          <a:p>
            <a:pPr algn="l" marL="0" indent="0" lvl="0">
              <a:lnSpc>
                <a:spcPts val="416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Two LPF stages provide stronger attenuation of noise.</a:t>
            </a:r>
          </a:p>
          <a:p>
            <a:pPr algn="l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376575">
            <a:off x="-699234" y="-3190905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5632181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2655819" y="0"/>
                </a:moveTo>
                <a:lnTo>
                  <a:pt x="0" y="0"/>
                </a:lnTo>
                <a:lnTo>
                  <a:pt x="0" y="4132861"/>
                </a:lnTo>
                <a:lnTo>
                  <a:pt x="2655819" y="4132861"/>
                </a:lnTo>
                <a:lnTo>
                  <a:pt x="26558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1338" y="3314724"/>
            <a:ext cx="15777962" cy="5158656"/>
          </a:xfrm>
          <a:custGeom>
            <a:avLst/>
            <a:gdLst/>
            <a:ahLst/>
            <a:cxnLst/>
            <a:rect r="r" b="b" t="t" l="l"/>
            <a:pathLst>
              <a:path h="5158656" w="15777962">
                <a:moveTo>
                  <a:pt x="0" y="0"/>
                </a:moveTo>
                <a:lnTo>
                  <a:pt x="15777962" y="0"/>
                </a:lnTo>
                <a:lnTo>
                  <a:pt x="15777962" y="5158656"/>
                </a:lnTo>
                <a:lnTo>
                  <a:pt x="0" y="5158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86" t="0" r="-108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079986" y="1629618"/>
            <a:ext cx="15872082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CIRCUIT DIAGRAM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946410" y="5394405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3342">
            <a:off x="12347359" y="-171664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02724" y="2558337"/>
            <a:ext cx="6236806" cy="8052686"/>
          </a:xfrm>
          <a:custGeom>
            <a:avLst/>
            <a:gdLst/>
            <a:ahLst/>
            <a:cxnLst/>
            <a:rect r="r" b="b" t="t" l="l"/>
            <a:pathLst>
              <a:path h="8052686" w="6236806">
                <a:moveTo>
                  <a:pt x="0" y="0"/>
                </a:moveTo>
                <a:lnTo>
                  <a:pt x="6236805" y="0"/>
                </a:lnTo>
                <a:lnTo>
                  <a:pt x="6236805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7037" y="2558337"/>
            <a:ext cx="12477593" cy="5708499"/>
          </a:xfrm>
          <a:custGeom>
            <a:avLst/>
            <a:gdLst/>
            <a:ahLst/>
            <a:cxnLst/>
            <a:rect r="r" b="b" t="t" l="l"/>
            <a:pathLst>
              <a:path h="5708499" w="12477593">
                <a:moveTo>
                  <a:pt x="0" y="0"/>
                </a:moveTo>
                <a:lnTo>
                  <a:pt x="12477592" y="0"/>
                </a:lnTo>
                <a:lnTo>
                  <a:pt x="12477592" y="5708499"/>
                </a:lnTo>
                <a:lnTo>
                  <a:pt x="0" y="5708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04793" y="1077026"/>
            <a:ext cx="11097931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SIMULATION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664677" y="2744377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55819" y="2223935"/>
            <a:ext cx="13765929" cy="6160253"/>
          </a:xfrm>
          <a:custGeom>
            <a:avLst/>
            <a:gdLst/>
            <a:ahLst/>
            <a:cxnLst/>
            <a:rect r="r" b="b" t="t" l="l"/>
            <a:pathLst>
              <a:path h="6160253" w="13765929">
                <a:moveTo>
                  <a:pt x="0" y="0"/>
                </a:moveTo>
                <a:lnTo>
                  <a:pt x="13765929" y="0"/>
                </a:lnTo>
                <a:lnTo>
                  <a:pt x="13765929" y="6160253"/>
                </a:lnTo>
                <a:lnTo>
                  <a:pt x="0" y="6160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7909" y="985343"/>
            <a:ext cx="8916136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FFT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71501" y="3304671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4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4" y="7727790"/>
                </a:lnTo>
                <a:lnTo>
                  <a:pt x="5985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7848" y="2862445"/>
            <a:ext cx="16264856" cy="4964559"/>
          </a:xfrm>
          <a:custGeom>
            <a:avLst/>
            <a:gdLst/>
            <a:ahLst/>
            <a:cxnLst/>
            <a:rect r="r" b="b" t="t" l="l"/>
            <a:pathLst>
              <a:path h="4964559" w="16264856">
                <a:moveTo>
                  <a:pt x="0" y="0"/>
                </a:moveTo>
                <a:lnTo>
                  <a:pt x="16264856" y="0"/>
                </a:lnTo>
                <a:lnTo>
                  <a:pt x="16264856" y="4964559"/>
                </a:lnTo>
                <a:lnTo>
                  <a:pt x="0" y="496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319" r="0" b="-389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7848" y="1646697"/>
            <a:ext cx="13206870" cy="73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6"/>
              </a:lnSpc>
            </a:pPr>
            <a:r>
              <a:rPr lang="en-US" b="true" sz="4133" spc="206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CIRCUIT WITH POTENTIOMETER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71501" y="3304671"/>
            <a:ext cx="5985173" cy="7727790"/>
          </a:xfrm>
          <a:custGeom>
            <a:avLst/>
            <a:gdLst/>
            <a:ahLst/>
            <a:cxnLst/>
            <a:rect r="r" b="b" t="t" l="l"/>
            <a:pathLst>
              <a:path h="7727790" w="5985173">
                <a:moveTo>
                  <a:pt x="5985174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4" y="7727790"/>
                </a:lnTo>
                <a:lnTo>
                  <a:pt x="5985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55819" y="1701203"/>
            <a:ext cx="12148753" cy="5390056"/>
          </a:xfrm>
          <a:custGeom>
            <a:avLst/>
            <a:gdLst/>
            <a:ahLst/>
            <a:cxnLst/>
            <a:rect r="r" b="b" t="t" l="l"/>
            <a:pathLst>
              <a:path h="5390056" w="12148753">
                <a:moveTo>
                  <a:pt x="0" y="0"/>
                </a:moveTo>
                <a:lnTo>
                  <a:pt x="12148752" y="0"/>
                </a:lnTo>
                <a:lnTo>
                  <a:pt x="12148752" y="5390056"/>
                </a:lnTo>
                <a:lnTo>
                  <a:pt x="0" y="5390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2" t="0" r="-13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73896"/>
            <a:ext cx="14561787" cy="45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46"/>
              </a:lnSpc>
            </a:pPr>
            <a:r>
              <a:rPr lang="en-US" b="true" sz="2533" spc="126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OUTPUT WAVEFORM IN BOTH TIME AND FREUENCY DOMAIN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8935" y="7311413"/>
            <a:ext cx="14561787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9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THE SIMULATION RESULTS DEMONSTRATE THAT THE VARIABLE RESISTOR ACTS AS A GAIN AND SELECTIVITY CONTROL ELEMENT IN THE ACTIVE FILTER CIRCUIT. WHILE THE CENTER FREQUENCY REMAINS AROUND 6 KHZ DUE TO FIXED RC VALUES, THE MAGNITUDE AND SHARPNESS OF THE FREQUENCY PEAK VARY WITH THE RESISTOR VALUE, WHICH IS CLEARLY VISIBLE IN BOTH THE FFT SPECTRUM AND TIME-DOMAIN WAVEFORM</a:t>
            </a:r>
            <a:r>
              <a:rPr lang="en-US" b="true" sz="1800" spc="9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376575">
            <a:off x="-699234" y="-3190905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5632181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2655819" y="0"/>
                </a:moveTo>
                <a:lnTo>
                  <a:pt x="0" y="0"/>
                </a:lnTo>
                <a:lnTo>
                  <a:pt x="0" y="4132861"/>
                </a:lnTo>
                <a:lnTo>
                  <a:pt x="2655819" y="4132861"/>
                </a:lnTo>
                <a:lnTo>
                  <a:pt x="26558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72281" y="3224611"/>
            <a:ext cx="8785715" cy="6033689"/>
          </a:xfrm>
          <a:custGeom>
            <a:avLst/>
            <a:gdLst/>
            <a:ahLst/>
            <a:cxnLst/>
            <a:rect r="r" b="b" t="t" l="l"/>
            <a:pathLst>
              <a:path h="6033689" w="8785715">
                <a:moveTo>
                  <a:pt x="0" y="0"/>
                </a:moveTo>
                <a:lnTo>
                  <a:pt x="8785715" y="0"/>
                </a:lnTo>
                <a:lnTo>
                  <a:pt x="8785715" y="6033689"/>
                </a:lnTo>
                <a:lnTo>
                  <a:pt x="0" y="6033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667" t="-12292" r="-9583" b="-1185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6404" y="1037154"/>
            <a:ext cx="7611446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BONUS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2923" y="1975366"/>
            <a:ext cx="14724763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0"/>
              </a:lnSpc>
            </a:pPr>
            <a:r>
              <a:rPr lang="en-US" b="true" sz="5200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BUILDED THE CIRCUIT KICAD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76575">
            <a:off x="-832584" y="-356285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7" y="0"/>
                </a:lnTo>
                <a:lnTo>
                  <a:pt x="7511977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505412">
            <a:off x="11698623" y="-3293298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6" y="0"/>
                </a:moveTo>
                <a:lnTo>
                  <a:pt x="0" y="0"/>
                </a:lnTo>
                <a:lnTo>
                  <a:pt x="0" y="9699130"/>
                </a:lnTo>
                <a:lnTo>
                  <a:pt x="7511976" y="9699130"/>
                </a:lnTo>
                <a:lnTo>
                  <a:pt x="75119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19994">
            <a:off x="-1904829" y="3089916"/>
            <a:ext cx="8754851" cy="11303875"/>
          </a:xfrm>
          <a:custGeom>
            <a:avLst/>
            <a:gdLst/>
            <a:ahLst/>
            <a:cxnLst/>
            <a:rect r="r" b="b" t="t" l="l"/>
            <a:pathLst>
              <a:path h="11303875" w="8754851">
                <a:moveTo>
                  <a:pt x="8754851" y="0"/>
                </a:moveTo>
                <a:lnTo>
                  <a:pt x="0" y="0"/>
                </a:lnTo>
                <a:lnTo>
                  <a:pt x="0" y="11303875"/>
                </a:lnTo>
                <a:lnTo>
                  <a:pt x="8754851" y="11303875"/>
                </a:lnTo>
                <a:lnTo>
                  <a:pt x="87548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428589" y="801416"/>
            <a:ext cx="11813829" cy="94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019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OBSERVATION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8069" y="2059554"/>
            <a:ext cx="14274341" cy="776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uring simulation and implementation of the multi-stage filtering system, the following observations were made:</a:t>
            </a:r>
          </a:p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The High Pass Filter (2 kHz) successfully removed DC components and low-frequency drift from the input signal.</a:t>
            </a:r>
          </a:p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The Band Pass Filters selectively allowed frequencies around the desired 6 kHz region, improving frequency selectivity.</a:t>
            </a:r>
          </a:p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The Low Pass Filters (10 kHz and 8 kHz) significantly reduced high-frequency noise and interference.</a:t>
            </a:r>
          </a:p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Cascading multiple filter stages improved signal-to-noise ratio (SNR) and enhanced the clarity of the output signal.</a:t>
            </a:r>
          </a:p>
          <a:p>
            <a:pPr algn="just" marL="0" indent="0" lvl="0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FFT analysis showed that unwanted frequency components were attenuated, and the desired frequency component became more prominent.</a:t>
            </a:r>
          </a:p>
          <a:p>
            <a:pPr algn="r" marL="0" indent="0" lvl="0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284198">
            <a:off x="11429986" y="-3416142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8277" y="811917"/>
            <a:ext cx="6996120" cy="10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07534" y="2075575"/>
            <a:ext cx="13672932" cy="671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</a:t>
            </a: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multi-stage active filtering system was designed and implemented to extract the desired signal from a composite black-box input.</a:t>
            </a:r>
          </a:p>
          <a:p>
            <a:pPr algn="just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combination of High Pass, Band Pass, and Low Pass filters effectively removed low-frequency drift, high-frequency interference, and unwanted noise components.</a:t>
            </a:r>
          </a:p>
          <a:p>
            <a:pPr algn="just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use of multiple filter stages improved frequency selectivity and signal quality.</a:t>
            </a:r>
          </a:p>
          <a:p>
            <a:pPr algn="just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FFT analysis confirmed that the filtering system successfully enhanced the desired frequency component around 6 kHz.</a:t>
            </a:r>
          </a:p>
          <a:p>
            <a:pPr algn="just" marL="0" indent="0" lvl="0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approach demonstrates an effective method for signal conditioning and frequency component extraction in electronic systems.</a:t>
            </a:r>
          </a:p>
          <a:p>
            <a:pPr algn="just" marL="0" indent="0" lvl="0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3342">
            <a:off x="12347359" y="-1716641"/>
            <a:ext cx="7511977" cy="9699130"/>
          </a:xfrm>
          <a:custGeom>
            <a:avLst/>
            <a:gdLst/>
            <a:ahLst/>
            <a:cxnLst/>
            <a:rect r="r" b="b" t="t" l="l"/>
            <a:pathLst>
              <a:path h="9699130" w="7511977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51194" y="2234314"/>
            <a:ext cx="6236806" cy="8052686"/>
          </a:xfrm>
          <a:custGeom>
            <a:avLst/>
            <a:gdLst/>
            <a:ahLst/>
            <a:cxnLst/>
            <a:rect r="r" b="b" t="t" l="l"/>
            <a:pathLst>
              <a:path h="8052686" w="623680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2655819" cy="4132861"/>
          </a:xfrm>
          <a:custGeom>
            <a:avLst/>
            <a:gdLst/>
            <a:ahLst/>
            <a:cxnLst/>
            <a:rect r="r" b="b" t="t" l="l"/>
            <a:pathLst>
              <a:path h="4132861" w="2655819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43741" y="3976378"/>
            <a:ext cx="12371749" cy="204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38"/>
              </a:lnSpc>
            </a:pPr>
            <a:r>
              <a:rPr lang="en-US" b="true" sz="11598" spc="57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DAHDH6TuL8c</dc:identifier>
  <dcterms:modified xsi:type="dcterms:W3CDTF">2011-08-01T06:04:30Z</dcterms:modified>
  <cp:revision>1</cp:revision>
  <dc:title>Orange and White Modern Business Research Proposal Presentation</dc:title>
</cp:coreProperties>
</file>